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7F8CA577-DB4A-CF42-BE46-E181E8C1D4A2}"/>
              </a:ext>
            </a:extLst>
          </p:cNvPr>
          <p:cNvSpPr/>
          <p:nvPr/>
        </p:nvSpPr>
        <p:spPr>
          <a:xfrm>
            <a:off x="305" y="-31935"/>
            <a:ext cx="12191695" cy="6858000"/>
          </a:xfrm>
          <a:prstGeom prst="rect">
            <a:avLst/>
          </a:prstGeom>
          <a:solidFill>
            <a:srgbClr val="1B4D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7A1FF0C-47BD-798A-C01F-0456C3CFFC0E}"/>
              </a:ext>
            </a:extLst>
          </p:cNvPr>
          <p:cNvSpPr/>
          <p:nvPr/>
        </p:nvSpPr>
        <p:spPr>
          <a:xfrm>
            <a:off x="305" y="3823546"/>
            <a:ext cx="12191695" cy="54864"/>
          </a:xfrm>
          <a:prstGeom prst="rect">
            <a:avLst/>
          </a:prstGeom>
          <a:solidFill>
            <a:srgbClr val="C9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2801559-5034-502D-0255-B3C92357370D}"/>
              </a:ext>
            </a:extLst>
          </p:cNvPr>
          <p:cNvSpPr txBox="1"/>
          <p:nvPr/>
        </p:nvSpPr>
        <p:spPr>
          <a:xfrm>
            <a:off x="822960" y="810091"/>
            <a:ext cx="10515600" cy="11222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3400" b="1" i="0" dirty="0">
                <a:solidFill>
                  <a:srgbClr val="FFFFFF"/>
                </a:solidFill>
                <a:latin typeface="Calibri"/>
              </a:rPr>
              <a:t>AI-Powered Godown Monitoring System</a:t>
            </a:r>
          </a:p>
          <a:p>
            <a:pPr algn="ctr">
              <a:lnSpc>
                <a:spcPct val="110000"/>
              </a:lnSpc>
            </a:pPr>
            <a:r>
              <a:rPr sz="3400" b="1" i="0" dirty="0">
                <a:solidFill>
                  <a:srgbClr val="FFFFFF"/>
                </a:solidFill>
                <a:latin typeface="Calibri"/>
              </a:rPr>
              <a:t>for Post-Harvest Loss Prevention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DDD2BAD-F4A0-5FDB-E01E-E0059BA742A0}"/>
              </a:ext>
            </a:extLst>
          </p:cNvPr>
          <p:cNvSpPr txBox="1"/>
          <p:nvPr/>
        </p:nvSpPr>
        <p:spPr>
          <a:xfrm>
            <a:off x="833120" y="2674113"/>
            <a:ext cx="1050544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 i="0" dirty="0">
                <a:solidFill>
                  <a:srgbClr val="C98A1E"/>
                </a:solidFill>
                <a:latin typeface="Calibri"/>
              </a:rPr>
              <a:t>Team </a:t>
            </a:r>
            <a:r>
              <a:rPr sz="2000" b="1" i="0" dirty="0" err="1">
                <a:solidFill>
                  <a:srgbClr val="C98A1E"/>
                </a:solidFill>
                <a:latin typeface="Calibri"/>
              </a:rPr>
              <a:t>InnovativeX</a:t>
            </a:r>
            <a:endParaRPr sz="2000" b="1" i="0" dirty="0">
              <a:solidFill>
                <a:srgbClr val="C98A1E"/>
              </a:solidFill>
              <a:latin typeface="Calibri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D0ECE72-701C-A6E0-2755-D5F2EB7F23F6}"/>
              </a:ext>
            </a:extLst>
          </p:cNvPr>
          <p:cNvSpPr txBox="1"/>
          <p:nvPr/>
        </p:nvSpPr>
        <p:spPr>
          <a:xfrm>
            <a:off x="3352647" y="3166233"/>
            <a:ext cx="5486400" cy="2308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i="0" dirty="0">
                <a:solidFill>
                  <a:srgbClr val="FFFFFF"/>
                </a:solidFill>
                <a:latin typeface="Calibri"/>
              </a:rPr>
              <a:t>Team ID: H26AGR06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37A5A5C-0D2D-C01F-07FD-26C7557585A1}"/>
              </a:ext>
            </a:extLst>
          </p:cNvPr>
          <p:cNvSpPr txBox="1"/>
          <p:nvPr/>
        </p:nvSpPr>
        <p:spPr>
          <a:xfrm>
            <a:off x="833120" y="4008946"/>
            <a:ext cx="27432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dirty="0">
                <a:solidFill>
                  <a:srgbClr val="9CC2B2"/>
                </a:solidFill>
                <a:latin typeface="Calibri"/>
              </a:rPr>
              <a:t>TEAM LEAD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97AD174-BB96-49DA-9B76-86238A0151E6}"/>
              </a:ext>
            </a:extLst>
          </p:cNvPr>
          <p:cNvSpPr txBox="1"/>
          <p:nvPr/>
        </p:nvSpPr>
        <p:spPr>
          <a:xfrm>
            <a:off x="822960" y="4336267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 dirty="0">
                <a:solidFill>
                  <a:srgbClr val="FFFFFF"/>
                </a:solidFill>
                <a:latin typeface="Calibri"/>
              </a:rPr>
              <a:t>Vandana P.R.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981C0A5-B199-FDE4-910D-3E09306C79F0}"/>
              </a:ext>
            </a:extLst>
          </p:cNvPr>
          <p:cNvSpPr txBox="1"/>
          <p:nvPr/>
        </p:nvSpPr>
        <p:spPr>
          <a:xfrm>
            <a:off x="822655" y="4873589"/>
            <a:ext cx="27432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IN" sz="1400" b="1" i="0" dirty="0">
                <a:solidFill>
                  <a:srgbClr val="9CC2B2"/>
                </a:solidFill>
                <a:latin typeface="Calibri"/>
              </a:rPr>
              <a:t>TEAM MEMBERS</a:t>
            </a:r>
            <a:endParaRPr sz="1400" b="1" i="0" dirty="0">
              <a:solidFill>
                <a:srgbClr val="9CC2B2"/>
              </a:solidFill>
              <a:latin typeface="Calibri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1676AAF-C016-2BCE-593D-802113FC7B43}"/>
              </a:ext>
            </a:extLst>
          </p:cNvPr>
          <p:cNvSpPr txBox="1"/>
          <p:nvPr/>
        </p:nvSpPr>
        <p:spPr>
          <a:xfrm>
            <a:off x="833120" y="5221319"/>
            <a:ext cx="8229600" cy="5232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 dirty="0">
                <a:solidFill>
                  <a:srgbClr val="FFFFFF"/>
                </a:solidFill>
                <a:latin typeface="Calibri"/>
              </a:rPr>
              <a:t>Chinnam </a:t>
            </a:r>
            <a:r>
              <a:rPr sz="1700" b="0" i="0" dirty="0" err="1">
                <a:solidFill>
                  <a:srgbClr val="FFFFFF"/>
                </a:solidFill>
                <a:latin typeface="Calibri"/>
              </a:rPr>
              <a:t>Rushya</a:t>
            </a:r>
            <a:endParaRPr lang="en-IN" sz="1700" dirty="0">
              <a:solidFill>
                <a:srgbClr val="FFFFFF"/>
              </a:solidFill>
              <a:latin typeface="Calibri"/>
            </a:endParaRPr>
          </a:p>
          <a:p>
            <a:pPr algn="l">
              <a:lnSpc>
                <a:spcPct val="100000"/>
              </a:lnSpc>
            </a:pPr>
            <a:r>
              <a:rPr sz="1700" b="0" i="0" dirty="0">
                <a:solidFill>
                  <a:srgbClr val="FFFFFF"/>
                </a:solidFill>
                <a:latin typeface="Calibri"/>
              </a:rPr>
              <a:t>T. Divya Sri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9501F4B-3265-A137-7E7B-A281EB700E9A}"/>
              </a:ext>
            </a:extLst>
          </p:cNvPr>
          <p:cNvSpPr txBox="1"/>
          <p:nvPr/>
        </p:nvSpPr>
        <p:spPr>
          <a:xfrm>
            <a:off x="833120" y="6066235"/>
            <a:ext cx="2743200" cy="2154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 i="0" dirty="0">
                <a:solidFill>
                  <a:srgbClr val="9CC2B2"/>
                </a:solidFill>
                <a:latin typeface="Calibri"/>
              </a:rPr>
              <a:t>COLLEGE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265E07D-443B-0C6D-630F-2F8020AAB406}"/>
              </a:ext>
            </a:extLst>
          </p:cNvPr>
          <p:cNvSpPr txBox="1"/>
          <p:nvPr/>
        </p:nvSpPr>
        <p:spPr>
          <a:xfrm>
            <a:off x="833120" y="6401852"/>
            <a:ext cx="8229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 dirty="0">
                <a:solidFill>
                  <a:srgbClr val="FFFFFF"/>
                </a:solidFill>
                <a:latin typeface="Calibri"/>
              </a:rPr>
              <a:t>SASTRA Deemed University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6774D0F-C080-E4CC-BE71-67EE1315BAC4}"/>
              </a:ext>
            </a:extLst>
          </p:cNvPr>
          <p:cNvSpPr txBox="1"/>
          <p:nvPr/>
        </p:nvSpPr>
        <p:spPr>
          <a:xfrm>
            <a:off x="10972800" y="6492240"/>
            <a:ext cx="8229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9CC2B2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4D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9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1115568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5A6660"/>
                </a:solidFill>
                <a:latin typeface="Calibri"/>
              </a:rPr>
              <a:t>A large share of India's stored paddy and pulses is lost after harvest — not in the field, but inside the godown — because spoilage (mold, pests, moisture damage) is usually discovered only during infrequent manual inspection, by which point the loss is already done.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51460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1B4D3E"/>
                </a:solidFill>
                <a:latin typeface="Calibri"/>
              </a:rPr>
              <a:t>Objectives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971800"/>
            <a:ext cx="5486400" cy="329184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450" b="1">
                <a:solidFill>
                  <a:srgbClr val="2E7D5B"/>
                </a:solidFill>
                <a:latin typeface="Calibri"/>
              </a:rPr>
              <a:t>▸  </a:t>
            </a:r>
            <a:r>
              <a:rPr sz="1450">
                <a:solidFill>
                  <a:srgbClr val="222A27"/>
                </a:solidFill>
                <a:latin typeface="Calibri"/>
              </a:rPr>
              <a:t>Continuously monitor godown conditions (temperature, humidity, gas) instead of periodic manual checks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450" b="1">
                <a:solidFill>
                  <a:srgbClr val="2E7D5B"/>
                </a:solidFill>
                <a:latin typeface="Calibri"/>
              </a:rPr>
              <a:t>▸  </a:t>
            </a:r>
            <a:r>
              <a:rPr sz="1450">
                <a:solidFill>
                  <a:srgbClr val="222A27"/>
                </a:solidFill>
                <a:latin typeface="Calibri"/>
              </a:rPr>
              <a:t>Use computer vision to catch visible spoilage signs (mold, pest damage, discoloration) directly from grain images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450" b="1">
                <a:solidFill>
                  <a:srgbClr val="2E7D5B"/>
                </a:solidFill>
                <a:latin typeface="Calibri"/>
              </a:rPr>
              <a:t>▸  </a:t>
            </a:r>
            <a:r>
              <a:rPr sz="1450">
                <a:solidFill>
                  <a:srgbClr val="222A27"/>
                </a:solidFill>
                <a:latin typeface="Calibri"/>
              </a:rPr>
              <a:t>Fuse sensor + vision signals into a single, explainable real-time risk score per storage zone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450" b="1">
                <a:solidFill>
                  <a:srgbClr val="2E7D5B"/>
                </a:solidFill>
                <a:latin typeface="Calibri"/>
              </a:rPr>
              <a:t>▸  </a:t>
            </a:r>
            <a:r>
              <a:rPr sz="1450">
                <a:solidFill>
                  <a:srgbClr val="222A27"/>
                </a:solidFill>
                <a:latin typeface="Calibri"/>
              </a:rPr>
              <a:t>Automatically alert stakeholders via WhatsApp before a zone crosses into high-loss territory</a:t>
            </a:r>
          </a:p>
          <a:p>
            <a:pPr algn="l">
              <a:lnSpc>
                <a:spcPct val="108000"/>
              </a:lnSpc>
              <a:spcAft>
                <a:spcPts val="1000"/>
              </a:spcAft>
            </a:pPr>
            <a:r>
              <a:rPr sz="1450" b="1">
                <a:solidFill>
                  <a:srgbClr val="2E7D5B"/>
                </a:solidFill>
                <a:latin typeface="Calibri"/>
              </a:rPr>
              <a:t>▸  </a:t>
            </a:r>
            <a:r>
              <a:rPr sz="1450">
                <a:solidFill>
                  <a:srgbClr val="222A27"/>
                </a:solidFill>
                <a:latin typeface="Calibri"/>
              </a:rPr>
              <a:t>Prove the full workflow in software first, so hardware investment follows validated logic, not the other way around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2514600"/>
            <a:ext cx="5166360" cy="1051560"/>
          </a:xfrm>
          <a:prstGeom prst="rect">
            <a:avLst/>
          </a:prstGeom>
          <a:solidFill>
            <a:srgbClr val="E8F3EC"/>
          </a:solidFill>
          <a:ln w="9525">
            <a:solidFill>
              <a:srgbClr val="C9D1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20840" y="2624328"/>
            <a:ext cx="4709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C98A1E"/>
                </a:solidFill>
                <a:latin typeface="Calibri"/>
              </a:rPr>
              <a:t>Reactive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2971800"/>
            <a:ext cx="4709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222A27"/>
                </a:solidFill>
                <a:latin typeface="Calibri"/>
              </a:rPr>
              <a:t>Manual inspection finds spoilage after it has already spread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3749040"/>
            <a:ext cx="5166360" cy="1051560"/>
          </a:xfrm>
          <a:prstGeom prst="rect">
            <a:avLst/>
          </a:prstGeom>
          <a:solidFill>
            <a:srgbClr val="E8F3EC"/>
          </a:solidFill>
          <a:ln w="9525">
            <a:solidFill>
              <a:srgbClr val="C9D1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20840" y="3858768"/>
            <a:ext cx="4709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C98A1E"/>
                </a:solidFill>
                <a:latin typeface="Calibri"/>
              </a:rPr>
              <a:t>Siloed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20840" y="4206240"/>
            <a:ext cx="4709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222A27"/>
                </a:solidFill>
                <a:latin typeface="Calibri"/>
              </a:rPr>
              <a:t>Temp/humidity loggers exist, but rarely fused with vision or alerting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4983480"/>
            <a:ext cx="5166360" cy="1051560"/>
          </a:xfrm>
          <a:prstGeom prst="rect">
            <a:avLst/>
          </a:prstGeom>
          <a:solidFill>
            <a:srgbClr val="E8F3EC"/>
          </a:solidFill>
          <a:ln w="9525">
            <a:solidFill>
              <a:srgbClr val="C9D1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20840" y="5093208"/>
            <a:ext cx="47091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C98A1E"/>
                </a:solidFill>
                <a:latin typeface="Calibri"/>
              </a:rPr>
              <a:t>Late alerts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20840" y="5440680"/>
            <a:ext cx="47091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222A27"/>
                </a:solidFill>
                <a:latin typeface="Calibri"/>
              </a:rPr>
              <a:t>No automatic, real-time notification to stakeholders on rising risk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1440" y="6528816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660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4D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9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Existing Solutions &amp; Identified Gaps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2743200" cy="502920"/>
          </a:xfrm>
          <a:prstGeom prst="rect">
            <a:avLst/>
          </a:prstGeom>
          <a:solidFill>
            <a:srgbClr val="1B4D3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75488" y="1371600"/>
            <a:ext cx="2523744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Existing Approach</a:t>
            </a:r>
          </a:p>
        </p:txBody>
      </p:sp>
      <p:sp>
        <p:nvSpPr>
          <p:cNvPr id="8" name="Rectangle 7"/>
          <p:cNvSpPr/>
          <p:nvPr/>
        </p:nvSpPr>
        <p:spPr>
          <a:xfrm>
            <a:off x="3108960" y="1371600"/>
            <a:ext cx="4206240" cy="502920"/>
          </a:xfrm>
          <a:prstGeom prst="rect">
            <a:avLst/>
          </a:prstGeom>
          <a:solidFill>
            <a:srgbClr val="1B4D3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18688" y="1371600"/>
            <a:ext cx="3986784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What It Does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1371600"/>
            <a:ext cx="4480560" cy="502920"/>
          </a:xfrm>
          <a:prstGeom prst="rect">
            <a:avLst/>
          </a:prstGeom>
          <a:solidFill>
            <a:srgbClr val="1B4D3E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24928" y="1371600"/>
            <a:ext cx="4261104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Identified Gap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874520"/>
            <a:ext cx="2743200" cy="1051560"/>
          </a:xfrm>
          <a:prstGeom prst="rect">
            <a:avLst/>
          </a:prstGeom>
          <a:solidFill>
            <a:srgbClr val="E8F3EC"/>
          </a:solidFill>
          <a:ln w="6350">
            <a:solidFill>
              <a:srgbClr val="C9D1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1947672"/>
            <a:ext cx="2468880" cy="9052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222A27"/>
                </a:solidFill>
                <a:latin typeface="Calibri"/>
              </a:rPr>
              <a:t>Manual visual inspection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08960" y="1874520"/>
            <a:ext cx="4206240" cy="1051560"/>
          </a:xfrm>
          <a:prstGeom prst="rect">
            <a:avLst/>
          </a:prstGeom>
          <a:solidFill>
            <a:srgbClr val="E8F3EC"/>
          </a:solidFill>
          <a:ln w="6350">
            <a:solidFill>
              <a:srgbClr val="C9D1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246120" y="1947672"/>
            <a:ext cx="3931920" cy="9052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222A27"/>
                </a:solidFill>
                <a:latin typeface="Calibri"/>
              </a:rPr>
              <a:t>Warehouse staff periodically check stock by eye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1874520"/>
            <a:ext cx="4480560" cy="1051560"/>
          </a:xfrm>
          <a:prstGeom prst="rect">
            <a:avLst/>
          </a:prstGeom>
          <a:solidFill>
            <a:srgbClr val="FBF1DD"/>
          </a:solidFill>
          <a:ln w="6350">
            <a:solidFill>
              <a:srgbClr val="C9D1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452360" y="1947672"/>
            <a:ext cx="4206240" cy="9052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C98A1E"/>
                </a:solidFill>
                <a:latin typeface="Calibri"/>
              </a:rPr>
              <a:t>Reactive and infrequent — spoilage is usually already advanced by the time it's caught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926080"/>
            <a:ext cx="27432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C9D1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2999232"/>
            <a:ext cx="2468880" cy="9052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222A27"/>
                </a:solidFill>
                <a:latin typeface="Calibri"/>
              </a:rPr>
              <a:t>Basic IoT dataloggers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08960" y="2926080"/>
            <a:ext cx="42062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C9D1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246120" y="2999232"/>
            <a:ext cx="3931920" cy="9052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222A27"/>
                </a:solidFill>
                <a:latin typeface="Calibri"/>
              </a:rPr>
              <a:t>Log temperature/humidity to a dashboard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15200" y="2926080"/>
            <a:ext cx="4480560" cy="1051560"/>
          </a:xfrm>
          <a:prstGeom prst="rect">
            <a:avLst/>
          </a:prstGeom>
          <a:solidFill>
            <a:srgbClr val="FBF1DD"/>
          </a:solidFill>
          <a:ln w="6350">
            <a:solidFill>
              <a:srgbClr val="C9D1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452360" y="2999232"/>
            <a:ext cx="4206240" cy="9052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C98A1E"/>
                </a:solidFill>
                <a:latin typeface="Calibri"/>
              </a:rPr>
              <a:t>No gas/CO₂ leading indicator, no vision, no automated scoring or alerting — just raw numbers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977640"/>
            <a:ext cx="2743200" cy="1051560"/>
          </a:xfrm>
          <a:prstGeom prst="rect">
            <a:avLst/>
          </a:prstGeom>
          <a:solidFill>
            <a:srgbClr val="E8F3EC"/>
          </a:solidFill>
          <a:ln w="6350">
            <a:solidFill>
              <a:srgbClr val="C9D1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920" y="4050792"/>
            <a:ext cx="2468880" cy="9052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222A27"/>
                </a:solidFill>
                <a:latin typeface="Calibri"/>
              </a:rPr>
              <a:t>Standalone AI grain-quality classifiers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08960" y="3977640"/>
            <a:ext cx="4206240" cy="1051560"/>
          </a:xfrm>
          <a:prstGeom prst="rect">
            <a:avLst/>
          </a:prstGeom>
          <a:solidFill>
            <a:srgbClr val="E8F3EC"/>
          </a:solidFill>
          <a:ln w="6350">
            <a:solidFill>
              <a:srgbClr val="C9D1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246120" y="4050792"/>
            <a:ext cx="3931920" cy="9052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222A27"/>
                </a:solidFill>
                <a:latin typeface="Calibri"/>
              </a:rPr>
              <a:t>Classify grain images, typically at intake/procurement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0" y="3977640"/>
            <a:ext cx="4480560" cy="1051560"/>
          </a:xfrm>
          <a:prstGeom prst="rect">
            <a:avLst/>
          </a:prstGeom>
          <a:solidFill>
            <a:srgbClr val="FBF1DD"/>
          </a:solidFill>
          <a:ln w="6350">
            <a:solidFill>
              <a:srgbClr val="C9D1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452360" y="4050792"/>
            <a:ext cx="4206240" cy="9052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C98A1E"/>
                </a:solidFill>
                <a:latin typeface="Calibri"/>
              </a:rPr>
              <a:t>One-time check only — not continuous in-storage monitoring, not fused with environmental data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5029200"/>
            <a:ext cx="274320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C9D1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02920" y="5102352"/>
            <a:ext cx="2468880" cy="9052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222A27"/>
                </a:solidFill>
                <a:latin typeface="Calibri"/>
              </a:rPr>
              <a:t>Commercial cold-chain monitoring systems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08960" y="5029200"/>
            <a:ext cx="42062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C9D1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246120" y="5102352"/>
            <a:ext cx="3931920" cy="9052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222A27"/>
                </a:solidFill>
                <a:latin typeface="Calibri"/>
              </a:rPr>
              <a:t>Continuous monitoring with hardware + alerts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0" y="5029200"/>
            <a:ext cx="4480560" cy="1051560"/>
          </a:xfrm>
          <a:prstGeom prst="rect">
            <a:avLst/>
          </a:prstGeom>
          <a:solidFill>
            <a:srgbClr val="FBF1DD"/>
          </a:solidFill>
          <a:ln w="6350">
            <a:solidFill>
              <a:srgbClr val="C9D1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452360" y="5102352"/>
            <a:ext cx="4206240" cy="9052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C98A1E"/>
                </a:solidFill>
                <a:latin typeface="Calibri"/>
              </a:rPr>
              <a:t>Expensive, hardware-heavy, built for refrigerated storage — not ambient godowns used for paddy/pulses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521440" y="6528816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66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4D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9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System Design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4107" y="2788920"/>
            <a:ext cx="2743200" cy="914400"/>
          </a:xfrm>
          <a:prstGeom prst="roundRect">
            <a:avLst/>
          </a:prstGeom>
          <a:solidFill>
            <a:srgbClr val="E8F3EC"/>
          </a:solidFill>
          <a:ln w="1905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300" b="1" dirty="0">
                <a:solidFill>
                  <a:srgbClr val="1B4D3E"/>
                </a:solidFill>
                <a:latin typeface="Calibri"/>
              </a:rPr>
              <a:t>Simulated / Real Sensors</a:t>
            </a:r>
          </a:p>
          <a:p>
            <a:pPr algn="ctr"/>
            <a:r>
              <a:rPr sz="1000" dirty="0">
                <a:solidFill>
                  <a:srgbClr val="5A6660"/>
                </a:solidFill>
                <a:latin typeface="Calibri"/>
              </a:rPr>
              <a:t>Temp · Humidity · Gas (CO₂ proxy) per zone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4107" y="4023360"/>
            <a:ext cx="2743200" cy="914400"/>
          </a:xfrm>
          <a:prstGeom prst="roundRect">
            <a:avLst/>
          </a:prstGeom>
          <a:solidFill>
            <a:srgbClr val="E8F3EC"/>
          </a:solidFill>
          <a:ln w="1905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300" b="1">
                <a:solidFill>
                  <a:srgbClr val="1B4D3E"/>
                </a:solidFill>
                <a:latin typeface="Calibri"/>
              </a:rPr>
              <a:t>Grain Image Upload</a:t>
            </a:r>
          </a:p>
          <a:p>
            <a:pPr algn="ctr"/>
            <a:r>
              <a:rPr sz="1000">
                <a:solidFill>
                  <a:srgbClr val="5A6660"/>
                </a:solidFill>
                <a:latin typeface="Calibri"/>
              </a:rPr>
              <a:t>Zone photo via dashboard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5987" y="3383280"/>
            <a:ext cx="2743200" cy="1234440"/>
          </a:xfrm>
          <a:prstGeom prst="roundRect">
            <a:avLst/>
          </a:prstGeom>
          <a:solidFill>
            <a:srgbClr val="1B4D3E"/>
          </a:solidFill>
          <a:ln w="19050">
            <a:solidFill>
              <a:srgbClr val="1B4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300" b="1" dirty="0" err="1">
                <a:solidFill>
                  <a:srgbClr val="FFFFFF"/>
                </a:solidFill>
                <a:latin typeface="Calibri"/>
              </a:rPr>
              <a:t>FastAPI</a:t>
            </a:r>
            <a:r>
              <a:rPr sz="1300" b="1" dirty="0">
                <a:solidFill>
                  <a:srgbClr val="FFFFFF"/>
                </a:solidFill>
                <a:latin typeface="Calibri"/>
              </a:rPr>
              <a:t> Backend</a:t>
            </a:r>
          </a:p>
          <a:p>
            <a:pPr algn="ctr"/>
            <a:r>
              <a:rPr sz="1050" dirty="0">
                <a:solidFill>
                  <a:srgbClr val="CFE3D8"/>
                </a:solidFill>
                <a:latin typeface="Calibri"/>
              </a:rPr>
              <a:t>main.py — single-process API
(serves dashboard too)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5987" y="1828800"/>
            <a:ext cx="2743200" cy="914400"/>
          </a:xfrm>
          <a:prstGeom prst="roundRect">
            <a:avLst/>
          </a:prstGeom>
          <a:solidFill>
            <a:srgbClr val="E8F3EC"/>
          </a:solidFill>
          <a:ln w="1905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300" b="1" dirty="0">
                <a:solidFill>
                  <a:srgbClr val="1B4D3E"/>
                </a:solidFill>
                <a:latin typeface="Calibri"/>
              </a:rPr>
              <a:t>CV Classifier</a:t>
            </a:r>
          </a:p>
          <a:p>
            <a:pPr algn="ctr"/>
            <a:r>
              <a:rPr lang="en-IN" sz="1000" dirty="0">
                <a:solidFill>
                  <a:srgbClr val="5A6660"/>
                </a:solidFill>
                <a:latin typeface="Calibri"/>
              </a:rPr>
              <a:t>Mob</a:t>
            </a:r>
            <a:r>
              <a:rPr sz="1000" dirty="0">
                <a:solidFill>
                  <a:srgbClr val="5A6660"/>
                </a:solidFill>
                <a:latin typeface="Calibri"/>
              </a:rPr>
              <a:t>ileNetV2 model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62146" y="3383280"/>
            <a:ext cx="2331720" cy="1234440"/>
          </a:xfrm>
          <a:prstGeom prst="roundRect">
            <a:avLst/>
          </a:prstGeom>
          <a:solidFill>
            <a:srgbClr val="FBF1DD"/>
          </a:solidFill>
          <a:ln w="19050">
            <a:solidFill>
              <a:srgbClr val="C98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300" b="1">
                <a:solidFill>
                  <a:srgbClr val="C98A1E"/>
                </a:solidFill>
                <a:latin typeface="Calibri"/>
              </a:rPr>
              <a:t>Risk Engine</a:t>
            </a:r>
          </a:p>
          <a:p>
            <a:pPr algn="ctr"/>
            <a:r>
              <a:rPr sz="1000">
                <a:solidFill>
                  <a:srgbClr val="5A6660"/>
                </a:solidFill>
                <a:latin typeface="Calibri"/>
              </a:rPr>
              <a:t>risk.py — rule-based scoring
+ sensor/vision fusion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2146" y="1828800"/>
            <a:ext cx="2331720" cy="914400"/>
          </a:xfrm>
          <a:prstGeom prst="roundRect">
            <a:avLst/>
          </a:prstGeom>
          <a:solidFill>
            <a:srgbClr val="E8F3EC"/>
          </a:solidFill>
          <a:ln w="1905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300" b="1">
                <a:solidFill>
                  <a:srgbClr val="1B4D3E"/>
                </a:solidFill>
                <a:latin typeface="Calibri"/>
              </a:rPr>
              <a:t>Alert Dispatch</a:t>
            </a:r>
          </a:p>
          <a:p>
            <a:pPr algn="ctr"/>
            <a:r>
              <a:rPr sz="1000">
                <a:solidFill>
                  <a:srgbClr val="5A6660"/>
                </a:solidFill>
                <a:latin typeface="Calibri"/>
              </a:rPr>
              <a:t>Twilio WhatsApp,
with in-app fallback log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2146" y="4892040"/>
            <a:ext cx="2331720" cy="914400"/>
          </a:xfrm>
          <a:prstGeom prst="roundRect">
            <a:avLst/>
          </a:prstGeom>
          <a:solidFill>
            <a:srgbClr val="E8F3EC"/>
          </a:solidFill>
          <a:ln w="19050">
            <a:solidFill>
              <a:srgbClr val="2E7D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6200" tIns="50800" rIns="76200" bIns="50800" rtlCol="0" anchor="ctr"/>
          <a:lstStyle/>
          <a:p>
            <a:pPr algn="ctr"/>
            <a:r>
              <a:rPr sz="1300" b="1">
                <a:solidFill>
                  <a:srgbClr val="1B4D3E"/>
                </a:solidFill>
                <a:latin typeface="Calibri"/>
              </a:rPr>
              <a:t>Web Dashboard</a:t>
            </a:r>
          </a:p>
          <a:p>
            <a:pPr algn="ctr"/>
            <a:r>
              <a:rPr sz="1000">
                <a:solidFill>
                  <a:srgbClr val="5A6660"/>
                </a:solidFill>
                <a:latin typeface="Calibri"/>
              </a:rPr>
              <a:t>Polls /risk/{zone} every
few seconds, shows zone cards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427307" y="3246120"/>
            <a:ext cx="868680" cy="502920"/>
          </a:xfrm>
          <a:prstGeom prst="line">
            <a:avLst/>
          </a:prstGeom>
          <a:ln w="28575">
            <a:solidFill>
              <a:srgbClr val="2E7D5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3427307" y="4023360"/>
            <a:ext cx="868680" cy="457200"/>
          </a:xfrm>
          <a:prstGeom prst="line">
            <a:avLst/>
          </a:prstGeom>
          <a:ln w="28575">
            <a:solidFill>
              <a:srgbClr val="2E7D5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5667587" y="2743200"/>
            <a:ext cx="0" cy="640080"/>
          </a:xfrm>
          <a:prstGeom prst="line">
            <a:avLst/>
          </a:prstGeom>
          <a:ln w="28575">
            <a:solidFill>
              <a:srgbClr val="2E7D5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7039187" y="3886200"/>
            <a:ext cx="822959" cy="0"/>
          </a:xfrm>
          <a:prstGeom prst="line">
            <a:avLst/>
          </a:prstGeom>
          <a:ln w="28575">
            <a:solidFill>
              <a:srgbClr val="2E7D5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9023435" y="2743200"/>
            <a:ext cx="0" cy="640080"/>
          </a:xfrm>
          <a:prstGeom prst="line">
            <a:avLst/>
          </a:prstGeom>
          <a:ln w="28575">
            <a:solidFill>
              <a:srgbClr val="2E7D5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9023435" y="4617720"/>
            <a:ext cx="0" cy="274320"/>
          </a:xfrm>
          <a:prstGeom prst="line">
            <a:avLst/>
          </a:prstGeom>
          <a:ln w="28575">
            <a:solidFill>
              <a:srgbClr val="2E7D5B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 flipV="1">
            <a:off x="7039187" y="4114800"/>
            <a:ext cx="822959" cy="1051560"/>
          </a:xfrm>
          <a:prstGeom prst="line">
            <a:avLst/>
          </a:prstGeom>
          <a:ln w="28575">
            <a:solidFill>
              <a:srgbClr val="5A6660"/>
            </a:solidFill>
            <a:tailEnd type="triangle" w="med" len="me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1521440" y="6528816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66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4D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98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02920" y="384048"/>
            <a:ext cx="11155680" cy="5943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FFFFFF"/>
                </a:solidFill>
                <a:latin typeface="Calibri"/>
              </a:rPr>
              <a:t>Implementation Progress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5943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4D3E"/>
                </a:solidFill>
                <a:latin typeface="Calibri"/>
              </a:rPr>
              <a:t>Development Status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645920"/>
            <a:ext cx="5943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5A6660"/>
                </a:solidFill>
                <a:latin typeface="Calibri"/>
              </a:rPr>
              <a:t>Backend, dashboard, and alert log are built and verified working end-to-end locally (mock/heuristic classification, simulated sensors, rule-based risk scoring, in-app alert log).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514600"/>
            <a:ext cx="5943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B4D3E"/>
                </a:solidFill>
                <a:latin typeface="Calibri"/>
              </a:rPr>
              <a:t>Functionalities Completed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880360"/>
            <a:ext cx="5943600" cy="182880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2E7D5B"/>
                </a:solidFill>
                <a:latin typeface="Calibri"/>
              </a:rPr>
              <a:t>▸  </a:t>
            </a:r>
            <a:r>
              <a:rPr sz="1200">
                <a:solidFill>
                  <a:srgbClr val="222A27"/>
                </a:solidFill>
                <a:latin typeface="Calibri"/>
              </a:rPr>
              <a:t>FastAPI backend serving live simulated sensor readings for 3 godown zones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2E7D5B"/>
                </a:solidFill>
                <a:latin typeface="Calibri"/>
              </a:rPr>
              <a:t>▸  </a:t>
            </a:r>
            <a:r>
              <a:rPr sz="1200">
                <a:solidFill>
                  <a:srgbClr val="222A27"/>
                </a:solidFill>
                <a:latin typeface="Calibri"/>
              </a:rPr>
              <a:t>Rule-based risk scoring engine combining humidity, temperature, and gas thresholds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2E7D5B"/>
                </a:solidFill>
                <a:latin typeface="Calibri"/>
              </a:rPr>
              <a:t>▸  </a:t>
            </a:r>
            <a:r>
              <a:rPr sz="1200">
                <a:solidFill>
                  <a:srgbClr val="222A27"/>
                </a:solidFill>
                <a:latin typeface="Calibri"/>
              </a:rPr>
              <a:t>Image upload + classification endpoint (HSV heuristic fallback working; MobileNetV2 training pipeline ready)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2E7D5B"/>
                </a:solidFill>
                <a:latin typeface="Calibri"/>
              </a:rPr>
              <a:t>▸  </a:t>
            </a:r>
            <a:r>
              <a:rPr sz="1200">
                <a:solidFill>
                  <a:srgbClr val="222A27"/>
                </a:solidFill>
                <a:latin typeface="Calibri"/>
              </a:rPr>
              <a:t>WhatsApp alert dispatch via Twilio Sandbox, with automatic in-app log fallback</a:t>
            </a:r>
          </a:p>
          <a:p>
            <a:pPr algn="l">
              <a:lnSpc>
                <a:spcPct val="108000"/>
              </a:lnSpc>
              <a:spcAft>
                <a:spcPts val="600"/>
              </a:spcAft>
            </a:pPr>
            <a:r>
              <a:rPr sz="1200" b="1">
                <a:solidFill>
                  <a:srgbClr val="2E7D5B"/>
                </a:solidFill>
                <a:latin typeface="Calibri"/>
              </a:rPr>
              <a:t>▸  </a:t>
            </a:r>
            <a:r>
              <a:rPr sz="1200">
                <a:solidFill>
                  <a:srgbClr val="222A27"/>
                </a:solidFill>
                <a:latin typeface="Calibri"/>
              </a:rPr>
              <a:t>Web dashboard polling live per-zone risk cards, color-coded by severity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074920"/>
            <a:ext cx="59436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C98A1E"/>
                </a:solidFill>
                <a:latin typeface="Calibri"/>
              </a:rPr>
              <a:t>Preliminary Results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440680"/>
            <a:ext cx="5943600" cy="1188720"/>
          </a:xfrm>
          <a:prstGeom prst="rect">
            <a:avLst/>
          </a:prstGeom>
          <a:noFill/>
        </p:spPr>
        <p:txBody>
          <a:bodyPr wrap="square" lIns="0" rIns="0" anchor="t">
            <a:spAutoFit/>
          </a:bodyPr>
          <a:lstStyle/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150" b="1">
                <a:solidFill>
                  <a:srgbClr val="C98A1E"/>
                </a:solidFill>
                <a:latin typeface="Calibri"/>
              </a:rPr>
              <a:t>▸  </a:t>
            </a:r>
            <a:r>
              <a:rPr sz="1150">
                <a:solidFill>
                  <a:srgbClr val="222A27"/>
                </a:solidFill>
                <a:latin typeface="Calibri"/>
              </a:rPr>
              <a:t>Risk score correctly escalates for the "leaky roof" zone as humidity/gas drift upward</a:t>
            </a:r>
          </a:p>
          <a:p>
            <a:pPr algn="l">
              <a:lnSpc>
                <a:spcPct val="108000"/>
              </a:lnSpc>
              <a:spcAft>
                <a:spcPts val="500"/>
              </a:spcAft>
            </a:pPr>
            <a:r>
              <a:rPr sz="1150" b="1">
                <a:solidFill>
                  <a:srgbClr val="C98A1E"/>
                </a:solidFill>
                <a:latin typeface="Calibri"/>
              </a:rPr>
              <a:t>▸  </a:t>
            </a:r>
            <a:r>
              <a:rPr sz="1150">
                <a:solidFill>
                  <a:srgbClr val="222A27"/>
                </a:solidFill>
                <a:latin typeface="Calibri"/>
              </a:rPr>
              <a:t>Alerts fire at threshold with cooldown working as intended; classifier flags low-confidence results as "uncertain"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20840" y="1417320"/>
            <a:ext cx="493776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1" i="0">
                <a:solidFill>
                  <a:srgbClr val="1B4D3E"/>
                </a:solidFill>
                <a:latin typeface="Calibri"/>
              </a:rPr>
              <a:t>Working Demonstration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1440" y="6528816"/>
            <a:ext cx="5486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0" i="0">
                <a:solidFill>
                  <a:srgbClr val="5A6660"/>
                </a:solidFill>
                <a:latin typeface="Calibri"/>
              </a:rPr>
              <a:t>5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9F1870E6-B3C1-9C75-3A24-BF64156B12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8547" y="1943100"/>
            <a:ext cx="5071533" cy="407246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568</Words>
  <Application>Microsoft Office PowerPoint</Application>
  <PresentationFormat>Widescreen</PresentationFormat>
  <Paragraphs>74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Vandana P.R.</cp:lastModifiedBy>
  <cp:revision>2</cp:revision>
  <dcterms:created xsi:type="dcterms:W3CDTF">2013-01-27T09:14:16Z</dcterms:created>
  <dcterms:modified xsi:type="dcterms:W3CDTF">2026-08-01T07:45:25Z</dcterms:modified>
  <cp:category/>
</cp:coreProperties>
</file>